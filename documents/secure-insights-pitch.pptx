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AGENTIC AI · ENTERPRISE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60">
                <a:solidFill>
                  <a:srgbClr val="EEF1F7"/>
                </a:solidFill>
                <a:latin typeface="Segoe UI"/>
              </a:rPr>
              <a:t>See it in </a:t>
            </a:r>
            <a:r>
              <a:rPr sz="5200" b="1" spc="-60">
                <a:solidFill>
                  <a:srgbClr val="2EE6D6"/>
                </a:solidFill>
                <a:latin typeface="Segoe UI"/>
              </a:rPr>
              <a:t>minutes</a:t>
            </a:r>
            <a:r>
              <a:rPr sz="5200" b="1" spc="-60">
                <a:solidFill>
                  <a:srgbClr val="EEF1F7"/>
                </a:solidFill>
                <a:latin typeface="Segoe U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60">
                <a:solidFill>
                  <a:srgbClr val="EEF1F7"/>
                </a:solidFill>
                <a:latin typeface="Segoe UI"/>
              </a:rPr>
              <a:t>Fix it </a:t>
            </a:r>
            <a:r>
              <a:rPr sz="5200" b="1" spc="-60">
                <a:solidFill>
                  <a:srgbClr val="E4002B"/>
                </a:solidFill>
                <a:latin typeface="Segoe UI"/>
              </a:rPr>
              <a:t>same shift</a:t>
            </a:r>
            <a:r>
              <a:rPr sz="5200" b="1" spc="-60">
                <a:solidFill>
                  <a:srgbClr val="EEF1F7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C9CFDB"/>
                </a:solidFill>
                <a:latin typeface="Segoe UI"/>
              </a:rPr>
              <a:t>An autonomous platform that forecasts demand, detects what's breaking across 250+ restaurants, explains why, and deploys the fix — before the shift 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3090672" cy="310896"/>
          </a:xfrm>
          <a:prstGeom prst="roundRect">
            <a:avLst>
              <a:gd name="adj" fmla="val 50000"/>
            </a:avLst>
          </a:prstGeom>
          <a:solidFill>
            <a:srgbClr val="161922"/>
          </a:solidFill>
          <a:ln w="9525">
            <a:solidFill>
              <a:srgbClr val="1E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53218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5230368"/>
            <a:ext cx="3090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60">
                <a:solidFill>
                  <a:srgbClr val="22C55E"/>
                </a:solidFill>
                <a:latin typeface="Consolas"/>
              </a:rPr>
              <a:t>Live · forecaster.secureinsights.ai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6" y="521208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5230368"/>
            <a:ext cx="166055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60">
                <a:solidFill>
                  <a:srgbClr val="8B93A5"/>
                </a:solidFill>
                <a:latin typeface="Consolas"/>
              </a:rPr>
              <a:t>Secure Insights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6790" y="5212080"/>
            <a:ext cx="1071676" cy="310896"/>
          </a:xfrm>
          <a:prstGeom prst="roundRect">
            <a:avLst>
              <a:gd name="adj" fmla="val 50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3094" y="5230368"/>
            <a:ext cx="10716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60">
                <a:solidFill>
                  <a:srgbClr val="8B93A5"/>
                </a:solidFill>
                <a:latin typeface="Consolas"/>
              </a:rPr>
              <a:t>KFC Vietnam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spc="-30">
                <a:solidFill>
                  <a:srgbClr val="EEF1F7"/>
                </a:solidFill>
                <a:latin typeface="Segoe UI"/>
              </a:rPr>
              <a:t>You're always the last to know.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C9CFDB"/>
                </a:solidFill>
                <a:latin typeface="Segoe UI"/>
              </a:rPr>
              <a:t>KFC Vietnam runs </a:t>
            </a:r>
            <a:r>
              <a:rPr sz="1700" b="1">
                <a:solidFill>
                  <a:srgbClr val="EEF1F7"/>
                </a:solidFill>
                <a:latin typeface="Segoe UI"/>
              </a:rPr>
              <a:t>250+ restaurants</a:t>
            </a:r>
            <a:r>
              <a:rPr sz="1700" b="0">
                <a:solidFill>
                  <a:srgbClr val="C9CFDB"/>
                </a:solidFill>
                <a:latin typeface="Segoe UI"/>
              </a:rPr>
              <a:t> and millions of daily transactions across dine-in, kiosk, delivery, and app. When something breaks — a register outage, a delivery-partner blackout, comp fraud — Ops &amp; Finance only find out from a </a:t>
            </a:r>
            <a:r>
              <a:rPr sz="1700" b="1">
                <a:solidFill>
                  <a:srgbClr val="EEF1F7"/>
                </a:solidFill>
                <a:latin typeface="Segoe UI"/>
              </a:rPr>
              <a:t>manual report review…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7800" b="1" spc="-150">
                <a:solidFill>
                  <a:srgbClr val="E4002B"/>
                </a:solidFill>
                <a:latin typeface="Segoe UI"/>
              </a:rPr>
              <a:t>24–48h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spc="120">
                <a:solidFill>
                  <a:srgbClr val="8B93A5"/>
                </a:solidFill>
                <a:latin typeface="Consolas"/>
              </a:rPr>
              <a:t>AFTER THE MONEY ALREADY WALKED OUT THE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8B93A5"/>
                </a:solidFill>
                <a:latin typeface="Segoe UI"/>
              </a:rPr>
              <a:t>And there's </a:t>
            </a:r>
            <a:r>
              <a:rPr sz="1500" b="1">
                <a:solidFill>
                  <a:srgbClr val="2EE6D6"/>
                </a:solidFill>
                <a:latin typeface="Segoe UI"/>
              </a:rPr>
              <a:t>no predictive baseline</a:t>
            </a:r>
            <a:r>
              <a:rPr sz="1500" b="0">
                <a:solidFill>
                  <a:srgbClr val="8B93A5"/>
                </a:solidFill>
                <a:latin typeface="Segoe UI"/>
              </a:rPr>
              <a:t> — no way to tell a real problem from an ordinary rainy Tuesday after a holiday.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spc="-30">
                <a:solidFill>
                  <a:srgbClr val="EEF1F7"/>
                </a:solidFill>
                <a:latin typeface="Segoe UI"/>
              </a:rPr>
              <a:t>In operations, latency </a:t>
            </a:r>
            <a:r>
              <a:rPr sz="4000" b="1" spc="-30">
                <a:solidFill>
                  <a:srgbClr val="E4002B"/>
                </a:solidFill>
                <a:latin typeface="Segoe UI"/>
              </a:rPr>
              <a:t>is</a:t>
            </a:r>
            <a:r>
              <a:rPr sz="4000" b="1" spc="-30">
                <a:solidFill>
                  <a:srgbClr val="EEF1F7"/>
                </a:solidFill>
                <a:latin typeface="Segoe UI"/>
              </a:rPr>
              <a:t> loss.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C9CFDB"/>
                </a:solidFill>
                <a:latin typeface="Segoe UI"/>
              </a:rPr>
              <a:t>The damage of an incident is the </a:t>
            </a:r>
            <a:r>
              <a:rPr sz="1700" b="1">
                <a:solidFill>
                  <a:srgbClr val="EEF1F7"/>
                </a:solidFill>
                <a:latin typeface="Segoe UI"/>
              </a:rPr>
              <a:t>rate of harm × the time you stay blind to it.</a:t>
            </a:r>
            <a:r>
              <a:rPr sz="1700" b="0">
                <a:solidFill>
                  <a:srgbClr val="C9CFDB"/>
                </a:solidFill>
                <a:latin typeface="Segoe UI"/>
              </a:rPr>
              <a:t> A store closed since lunch, found tomorrow afternoon, is a full day of revenue you can never get 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3344570" cy="173736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54864" cy="1737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4343400"/>
            <a:ext cx="288737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It compounds hourly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A POS outage, a fraud pattern, a stockout — each keeps bleeding every shift until someone notices.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3562" y="4160520"/>
            <a:ext cx="3344570" cy="173736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3562" y="4160520"/>
            <a:ext cx="54864" cy="1737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1306" y="4343400"/>
            <a:ext cx="288737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It doesn't scale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More stores → more reports → longer lag. Manual review gets worse as the chain grows.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4164" y="4160520"/>
            <a:ext cx="3344570" cy="173736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4164" y="4160520"/>
            <a:ext cx="54864" cy="173736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1908" y="4343400"/>
            <a:ext cx="288737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It burns your best people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Analysts spend their days finding problems instead of fixing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spc="-30">
                <a:solidFill>
                  <a:srgbClr val="EEF1F7"/>
                </a:solidFill>
                <a:latin typeface="Segoe UI"/>
              </a:rPr>
              <a:t>Not a dashboard. An operator that 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C9CFDB"/>
                </a:solidFill>
                <a:latin typeface="Segoe UI"/>
              </a:rPr>
              <a:t>A </a:t>
            </a:r>
            <a:r>
              <a:rPr sz="1700" b="1">
                <a:solidFill>
                  <a:srgbClr val="EEF1F7"/>
                </a:solidFill>
                <a:latin typeface="Segoe UI"/>
              </a:rPr>
              <a:t>closed-loop agent</a:t>
            </a:r>
            <a:r>
              <a:rPr sz="1700" b="0">
                <a:solidFill>
                  <a:srgbClr val="C9CFDB"/>
                </a:solidFill>
                <a:latin typeface="Segoe UI"/>
              </a:rPr>
              <a:t> that watches every store, reasons about what's wrong, and </a:t>
            </a:r>
            <a:r>
              <a:rPr sz="1700" b="1">
                <a:solidFill>
                  <a:srgbClr val="E4002B"/>
                </a:solidFill>
                <a:latin typeface="Segoe UI"/>
              </a:rPr>
              <a:t>deploys the fix it can</a:t>
            </a:r>
            <a:r>
              <a:rPr sz="1700" b="0">
                <a:solidFill>
                  <a:srgbClr val="C9CFDB"/>
                </a:solidFill>
                <a:latin typeface="Segoe UI"/>
              </a:rPr>
              <a:t> — autonomously. Plus an analyst your team can just talk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5144871" cy="18288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54864" cy="1828800"/>
          </a:xfrm>
          <a:prstGeom prst="rect">
            <a:avLst/>
          </a:prstGeom>
          <a:solidFill>
            <a:srgbClr val="2E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4160520"/>
            <a:ext cx="46876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spc="120">
                <a:solidFill>
                  <a:srgbClr val="2EE6D6"/>
                </a:solidFill>
                <a:latin typeface="Consolas"/>
              </a:rPr>
              <a:t>SURFACE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453128"/>
            <a:ext cx="4687671" cy="1216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The autonomous detect → remediate loop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Sense → forecast → detect → reason → decide → act → confirm. Runs on its own, every cycle, and takes real action on the store node.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3977639"/>
            <a:ext cx="5144871" cy="18288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3863" y="3977639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4160520"/>
            <a:ext cx="46876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spc="120">
                <a:solidFill>
                  <a:srgbClr val="8B5CF6"/>
                </a:solidFill>
                <a:latin typeface="Consolas"/>
              </a:rPr>
              <a:t>SURFACE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4453128"/>
            <a:ext cx="4687671" cy="1216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A conversational data analyst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Ask anything in plain English; it plans, queries your warehouse, interprets the result, draws the chart, and remembers the thread.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AGENTIC AI · MULTI-STEP AUTONOMOUS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spc="-30">
                <a:solidFill>
                  <a:srgbClr val="EEF1F7"/>
                </a:solidFill>
                <a:latin typeface="Segoe UI"/>
              </a:rPr>
              <a:t>From ingest to remediation — no human in the middle.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60904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01 · 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71800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Poll the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The scheduler autonomously re-scans ingested POS/ERP/weather every cycle — no human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123" y="2514600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8003" y="2660904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02 ·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8003" y="2971800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Predict the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An ML time-series model sets the expected demand range (p05–p95) per store × item × channel.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514600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660904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03 ·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971800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Reality vs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337560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Actuals scored vs the band → outages, drops, fraud, delivery-partner blackouts flagged.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451" y="2514600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331" y="2660904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04 · 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331" y="2971800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Validate &amp; 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331" y="3337560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A multi-judge council kills false alarms; driver attribution names why. The LLM narrates.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70248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16552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05 ·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27448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Plan the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93208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Classify severity; choose the remediation — fixable remotely, and which action?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5123" y="4270248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905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8003" y="4416552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E4002B"/>
                </a:solidFill>
                <a:latin typeface="Consolas"/>
              </a:rPr>
              <a:t>06 ·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003" y="4727448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Deploy the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8003" y="5093208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Tool use → real action. Dispatch to the store-node agent: restart POS, fail over network, block IP.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4270248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4416552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07 · CONFIRM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4727448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Close the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5093208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The agent executes on the node and reports back; a failed fix self-corrects or escalates.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451" y="4270248"/>
            <a:ext cx="2499283" cy="1572768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331" y="4416552"/>
            <a:ext cx="21335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00">
                <a:solidFill>
                  <a:srgbClr val="2EE6D6"/>
                </a:solidFill>
                <a:latin typeface="Consolas"/>
              </a:rPr>
              <a:t>08 · LEARN 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331" y="4727448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EF1F7"/>
                </a:solidFill>
                <a:latin typeface="Segoe UI"/>
              </a:rPr>
              <a:t>Feed it forward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331" y="5093208"/>
            <a:ext cx="213352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3A5"/>
                </a:solidFill>
                <a:latin typeface="Segoe UI"/>
              </a:rPr>
              <a:t>Ops confirms actionable/dismissed → tunes thresholds and feeds the next cycle.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spc="40">
                <a:solidFill>
                  <a:srgbClr val="2EE6D6"/>
                </a:solidFill>
                <a:latin typeface="Consolas"/>
              </a:rPr>
              <a:t>↺ CONTINUOUS &amp; AUTONOMOUS   </a:t>
            </a:r>
            <a:r>
              <a:rPr sz="1300" b="1" spc="40">
                <a:solidFill>
                  <a:srgbClr val="EEF1F7"/>
                </a:solidFill>
                <a:latin typeface="Consolas"/>
              </a:rPr>
              <a:t>Planning · reasoning · tool use · action that changes the world</a:t>
            </a:r>
            <a:r>
              <a:rPr sz="1300" b="0" spc="40">
                <a:solidFill>
                  <a:srgbClr val="8B93A5"/>
                </a:solidFill>
                <a:latin typeface="Consolas"/>
              </a:rPr>
              <a:t> — not a single prompt-response wrapper.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AGENTIC AI · TOOL USE &amp; SELF-CORRECTION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-30">
                <a:solidFill>
                  <a:srgbClr val="EEF1F7"/>
                </a:solidFill>
                <a:latin typeface="Segoe UI"/>
              </a:rPr>
              <a:t>An analyst that reasons, queries, and self-heals.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C9CFDB"/>
                </a:solidFill>
                <a:latin typeface="Segoe UI"/>
              </a:rPr>
              <a:t>Every question runs a multi-step agent loop over your live warehouse — powered by OpenAI, guardrailed to read-only SQL over allow-listed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11880"/>
            <a:ext cx="5144871" cy="1874519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11880"/>
            <a:ext cx="54864" cy="1874519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3794760"/>
            <a:ext cx="4687671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The loop, per turn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Plan → write SQL (tool) → run on the warehouse → observe rows → self-correct on a DB error → interpret in prose → visualize (bar / line / pie / heatmap). Remembers context across follow-ups.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3611880"/>
            <a:ext cx="5144871" cy="1874519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3863" y="3611880"/>
            <a:ext cx="54864" cy="1874519"/>
          </a:xfrm>
          <a:prstGeom prst="rect">
            <a:avLst/>
          </a:prstGeom>
          <a:solidFill>
            <a:srgbClr val="2E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3794760"/>
            <a:ext cx="4687671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Live example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“How does weather affect sales?” → joins weather × sales → “26.5% drop on rainy days.”  “So should we staff up?” → “Yes — rain shifts demand to delivery; here's the plan.”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8B93A5"/>
                </a:solidFill>
                <a:latin typeface="Segoe UI"/>
              </a:rPr>
              <a:t>When a query errors, the agent feeds the database error back to itself and rewrites it — a genuine reason → act → observe cycle, not one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TECHNICAL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spc="-30">
                <a:solidFill>
                  <a:srgbClr val="EEF1F7"/>
                </a:solidFill>
                <a:latin typeface="Segoe UI"/>
              </a:rPr>
              <a:t>Built, deployed, and running — on our own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1650949" cy="9144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752344"/>
            <a:ext cx="13949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EF1F7"/>
                </a:solidFill>
                <a:latin typeface="Segoe UI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3172968"/>
            <a:ext cx="13949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B93A5"/>
                </a:solidFill>
                <a:latin typeface="Segoe UI"/>
              </a:rPr>
              <a:t>POS · ERP · weather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1925" y="2606040"/>
            <a:ext cx="1650949" cy="9144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5875">
            <a:solidFill>
              <a:srgbClr val="2E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29941" y="2752344"/>
            <a:ext cx="13949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EF1F7"/>
                </a:solidFill>
                <a:latin typeface="Segoe UI"/>
              </a:rPr>
              <a:t>Medallion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941" y="3172968"/>
            <a:ext cx="13949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B93A5"/>
                </a:solidFill>
                <a:latin typeface="Segoe UI"/>
              </a:rPr>
              <a:t>bronze → silver → gold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890" y="2606040"/>
            <a:ext cx="1650949" cy="9144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5875">
            <a:solidFill>
              <a:srgbClr val="2E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752344"/>
            <a:ext cx="13949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EF1F7"/>
                </a:solidFill>
                <a:latin typeface="Segoe UI"/>
              </a:rPr>
              <a:t>ML time-series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906" y="3172968"/>
            <a:ext cx="13949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B93A5"/>
                </a:solidFill>
                <a:latin typeface="Segoe UI"/>
              </a:rPr>
              <a:t>p05 / p50 / p95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9855" y="2606040"/>
            <a:ext cx="1650949" cy="9144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5875">
            <a:solidFill>
              <a:srgbClr val="2E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7871" y="2752344"/>
            <a:ext cx="13949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EF1F7"/>
                </a:solidFill>
                <a:latin typeface="Segoe UI"/>
              </a:rPr>
              <a:t>Anomaly · council ·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3172968"/>
            <a:ext cx="13949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B93A5"/>
                </a:solidFill>
                <a:latin typeface="Segoe UI"/>
              </a:rPr>
              <a:t>detect · explain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8820" y="2606040"/>
            <a:ext cx="1650949" cy="9144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15875">
            <a:solidFill>
              <a:srgbClr val="2E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6836" y="2752344"/>
            <a:ext cx="13949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EF1F7"/>
                </a:solidFill>
                <a:latin typeface="Segoe UI"/>
              </a:rPr>
              <a:t>Store-node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172968"/>
            <a:ext cx="13949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B93A5"/>
                </a:solidFill>
                <a:latin typeface="Segoe UI"/>
              </a:rPr>
              <a:t>remediation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7786" y="2606040"/>
            <a:ext cx="1650949" cy="9144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5802" y="2752344"/>
            <a:ext cx="13949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EF1F7"/>
                </a:solidFill>
                <a:latin typeface="Segoe UI"/>
              </a:rPr>
              <a:t>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5802" y="3172968"/>
            <a:ext cx="13949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B93A5"/>
                </a:solidFill>
                <a:latin typeface="Segoe UI"/>
              </a:rPr>
              <a:t>dashboard · AI · BI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977639"/>
            <a:ext cx="3344570" cy="1783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977639"/>
            <a:ext cx="54864" cy="1783080"/>
          </a:xfrm>
          <a:prstGeom prst="rect">
            <a:avLst/>
          </a:prstGeom>
          <a:solidFill>
            <a:srgbClr val="2E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160520"/>
            <a:ext cx="288737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Provider-agnostic LLM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OpenAI today; any OpenAI-compatible or Anthropic endpoint by config. Optional — deterministic fallbacks everywhere.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3562" y="3977639"/>
            <a:ext cx="3344570" cy="1783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23562" y="3977639"/>
            <a:ext cx="54864" cy="1783080"/>
          </a:xfrm>
          <a:prstGeom prst="rect">
            <a:avLst/>
          </a:prstGeom>
          <a:solidFill>
            <a:srgbClr val="2E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1306" y="4160520"/>
            <a:ext cx="288737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Guardrailed &amp; safe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LLM-written SQL is SELECT-only, single-statement, LIMIT-bound, and can never touch credential tables.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4164" y="3977639"/>
            <a:ext cx="3344570" cy="17830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4164" y="3977639"/>
            <a:ext cx="54864" cy="1783080"/>
          </a:xfrm>
          <a:prstGeom prst="rect">
            <a:avLst/>
          </a:prstGeom>
          <a:solidFill>
            <a:srgbClr val="2E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1908" y="4160520"/>
            <a:ext cx="288737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Live on-prem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No cloud bill — runs on hardware you own, behind TLS, alongside existing systems. Bilingual EN/VI, VND-native.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IMPACT / USEFULNESS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spc="-30">
                <a:solidFill>
                  <a:srgbClr val="EEF1F7"/>
                </a:solidFill>
                <a:latin typeface="Segoe UI"/>
              </a:rPr>
              <a:t>A same-shift response — at chain scale, no new headcount.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spc="-60">
                <a:solidFill>
                  <a:srgbClr val="E4002B"/>
                </a:solidFill>
                <a:latin typeface="Segoe UI"/>
              </a:rPr>
              <a:t>24–48h → &lt;2h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30885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8B93A5"/>
                </a:solidFill>
                <a:latin typeface="Segoe UI"/>
              </a:rPr>
              <a:t>Time-to-detect — a &gt;90% cut vs. manual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0138" y="288036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60">
                <a:solidFill>
                  <a:srgbClr val="EEF1F7"/>
                </a:solidFill>
                <a:latin typeface="Segoe UI"/>
              </a:rPr>
              <a:t>9.1%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3657600"/>
            <a:ext cx="30885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8B93A5"/>
                </a:solidFill>
                <a:latin typeface="Segoe UI"/>
              </a:rPr>
              <a:t>Store-daily forecast error (MAPE) — beats the ≤10%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316" y="288036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60">
                <a:solidFill>
                  <a:srgbClr val="EEF1F7"/>
                </a:solidFill>
                <a:latin typeface="Segoe U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7316" y="3657600"/>
            <a:ext cx="30885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8B93A5"/>
                </a:solidFill>
                <a:latin typeface="Segoe UI"/>
              </a:rPr>
              <a:t>Of anomalies auto-explained with ≥3 root-cause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60">
                <a:solidFill>
                  <a:srgbClr val="EEF1F7"/>
                </a:solidFill>
                <a:latin typeface="Segoe UI"/>
              </a:rPr>
              <a:t>1-click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30885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8B93A5"/>
                </a:solidFill>
                <a:latin typeface="Segoe UI"/>
              </a:rPr>
              <a:t>Remediation — restart, fail over, block IP, rotate creds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0138" y="457200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60">
                <a:solidFill>
                  <a:srgbClr val="EEF1F7"/>
                </a:solidFill>
                <a:latin typeface="Segoe UI"/>
              </a:rPr>
              <a:t>250+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0138" y="5349240"/>
            <a:ext cx="30885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8B93A5"/>
                </a:solidFill>
                <a:latin typeface="Segoe UI"/>
              </a:rPr>
              <a:t>Stores watched continuously — scales without adding analysts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457200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60">
                <a:solidFill>
                  <a:srgbClr val="EEF1F7"/>
                </a:solidFill>
                <a:latin typeface="Segoe UI"/>
              </a:rPr>
              <a:t>₫0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316" y="5349240"/>
            <a:ext cx="30885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8B93A5"/>
                </a:solidFill>
                <a:latin typeface="Segoe UI"/>
              </a:rPr>
              <a:t>New cloud spend — runs on infrastructure you already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WHAT MAKES IT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spc="-30">
                <a:solidFill>
                  <a:srgbClr val="EEF1F7"/>
                </a:solidFill>
                <a:latin typeface="Segoe UI"/>
              </a:rPr>
              <a:t>Most tools stop at the alert. We deploy the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5144871" cy="16916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54864" cy="169164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834640"/>
            <a:ext cx="468767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Security DNA in a restaurant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The same detect-and-respond discipline that protects enterprises now protects a shift — down to blocking an intruding IP and rotating credentials on a store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863" y="2651760"/>
            <a:ext cx="5144871" cy="16916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3863" y="2651760"/>
            <a:ext cx="54864" cy="1691640"/>
          </a:xfrm>
          <a:prstGeom prst="rect">
            <a:avLst/>
          </a:prstGeom>
          <a:solidFill>
            <a:srgbClr val="2E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834640"/>
            <a:ext cx="468767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The loop actually closes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Detection is table stakes. We dispatch the remediation to the node and confirm it worked — an agent that changes the world, not one that just narrates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72000"/>
            <a:ext cx="5144871" cy="16916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54864" cy="1691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754880"/>
            <a:ext cx="468767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An analyst that draws &amp; self-heals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Conversational AI that writes its own SQL, renders its own charts and heatmaps, and rewrites a failing query on the fly.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4572000"/>
            <a:ext cx="5144871" cy="16916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4572000"/>
            <a:ext cx="54864" cy="1691640"/>
          </a:xfrm>
          <a:prstGeom prst="rect">
            <a:avLst/>
          </a:prstGeom>
          <a:solidFill>
            <a:srgbClr val="F7B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4754880"/>
            <a:ext cx="468767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Built for the market, from inside it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Vietnamese holidays and Tết, delivery partners (Grab / ShopeeFood / Baemin), VND, EN/VI — modeled, not bolted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spc="-30">
                <a:solidFill>
                  <a:srgbClr val="EEF1F7"/>
                </a:solidFill>
                <a:latin typeface="Segoe UI"/>
              </a:rPr>
              <a:t>We didn't read about this in a case study. We lived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34640"/>
            <a:ext cx="3344570" cy="210312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834640"/>
            <a:ext cx="54864" cy="210312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017520"/>
            <a:ext cx="288737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Jason Koo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Co-founder. Former CIO, Vinh Hoan Corp (public, VN) and Director of Engineering, Binary Defense — enterprise systems + threat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3562" y="2834640"/>
            <a:ext cx="3344570" cy="210312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3562" y="2834640"/>
            <a:ext cx="54864" cy="210312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1306" y="3017520"/>
            <a:ext cx="288737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Kevin Yee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Co-founder. Former Vietnam Country Manager, Apple; CGO / CMO at CoderSchool &amp; POPS Worldwide — market, growth &amp; P&amp;L.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4164" y="2834640"/>
            <a:ext cx="3344570" cy="210312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4164" y="2834640"/>
            <a:ext cx="54864" cy="2103120"/>
          </a:xfrm>
          <a:prstGeom prst="rect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1908" y="3017520"/>
            <a:ext cx="288737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EEF1F7"/>
                </a:solidFill>
                <a:latin typeface="Segoe UI"/>
              </a:rPr>
              <a:t>Christian Decker</a:t>
            </a:r>
          </a:p>
          <a:p>
            <a:pPr>
              <a:lnSpc>
                <a:spcPct val="134000"/>
              </a:lnSpc>
              <a:spcBef>
                <a:spcPts val="700"/>
              </a:spcBef>
            </a:pPr>
            <a:r>
              <a:rPr sz="1300" b="0">
                <a:solidFill>
                  <a:srgbClr val="8B93A5"/>
                </a:solidFill>
                <a:latin typeface="Segoe UI"/>
              </a:rPr>
              <a:t>Co-founder. Engineering &amp; business analysis — turns operational pain into software that 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140">
                <a:solidFill>
                  <a:srgbClr val="8B93A5"/>
                </a:solidFill>
                <a:latin typeface="Consolas"/>
              </a:rPr>
              <a:t>ACROSS OUR CAREERS:  STARBUCKS · APPLE · GE · GEICO  —  LEADERSHIP TO HANDS-ON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spc="220">
                <a:solidFill>
                  <a:srgbClr val="2EE6D6"/>
                </a:solidFill>
                <a:latin typeface="Consolas"/>
              </a:rP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spc="-40">
                <a:solidFill>
                  <a:srgbClr val="8B93A5"/>
                </a:solidFill>
                <a:latin typeface="Segoe UI"/>
              </a:rPr>
              <a:t>From “what happened yesterday?”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50">
                <a:solidFill>
                  <a:srgbClr val="2EE6D6"/>
                </a:solidFill>
                <a:latin typeface="Segoe UI"/>
              </a:rPr>
              <a:t>to “here's what's happening now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spc="-50">
                <a:solidFill>
                  <a:srgbClr val="E4002B"/>
                </a:solidFill>
                <a:latin typeface="Segoe UI"/>
              </a:rPr>
              <a:t>and here's the fix.”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3427171" cy="310896"/>
          </a:xfrm>
          <a:prstGeom prst="roundRect">
            <a:avLst>
              <a:gd name="adj" fmla="val 50000"/>
            </a:avLst>
          </a:prstGeom>
          <a:solidFill>
            <a:srgbClr val="161922"/>
          </a:solidFill>
          <a:ln w="9525">
            <a:solidFill>
              <a:srgbClr val="1E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500176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910327"/>
            <a:ext cx="34271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60">
                <a:solidFill>
                  <a:srgbClr val="22C55E"/>
                </a:solidFill>
                <a:latin typeface="Consolas"/>
              </a:rPr>
              <a:t>Live now · forecaster.secureinsights.ai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6435" y="489204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161922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2739" y="4910327"/>
            <a:ext cx="166055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60">
                <a:solidFill>
                  <a:srgbClr val="8B93A5"/>
                </a:solidFill>
                <a:latin typeface="Consolas"/>
              </a:rPr>
              <a:t>Secure Insights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8B93A5"/>
                </a:solidFill>
                <a:latin typeface="Segoe UI"/>
              </a:rPr>
              <a:t>Give us your stores — we'll turn a 24-hour blind spot into a same-shift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spc="120">
                <a:solidFill>
                  <a:srgbClr val="E4002B"/>
                </a:solidFill>
                <a:latin typeface="Consolas"/>
              </a:rPr>
              <a:t>■ SECURE INSIGHTS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