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D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8952" y="1828800"/>
            <a:ext cx="758952" cy="508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194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Faster Sales Anomaly Detection and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C8C8C8"/>
                </a:solidFill>
                <a:latin typeface="Arial"/>
              </a:defRPr>
            </a:pPr>
            <a:r>
              <a:t>Reducing response time from 24-48 hours to near-real time across the KFC Vietnam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D4A84B"/>
                </a:solidFill>
                <a:latin typeface="Arial"/>
              </a:defRPr>
            </a:pPr>
            <a:r>
              <a:t>KFC Vietnam - Operations and 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5943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69696"/>
                </a:solidFill>
                <a:latin typeface="Arial"/>
              </a:defRPr>
            </a:pPr>
            <a: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Manual daily report review creates a 24-48 hour blind spot, costing the business critical recovery time on every incident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795528"/>
            <a:ext cx="457200" cy="3810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282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KFC Vietnam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28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Slide 2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118872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004D43"/>
                </a:solidFill>
                <a:latin typeface="Arial"/>
              </a:defRPr>
            </a:pPr>
            <a:r>
              <a:t>24-48h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t>Detection lag per incident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21608" y="118872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1280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004D43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t>Manual review dependency per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3774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What does a 36-hour blind spot cost us?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1234440"/>
            <a:ext cx="109728" cy="109728"/>
          </a:xfrm>
          <a:prstGeom prst="rect">
            <a:avLst/>
          </a:prstGeom>
          <a:solidFill>
            <a:srgbClr val="00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11887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A1A1A"/>
                </a:solidFill>
                <a:latin typeface="Arial"/>
              </a:defRPr>
            </a:pPr>
            <a:r>
              <a:t>POS / register outage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417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666666"/>
                </a:solidFill>
                <a:latin typeface="Arial"/>
              </a:defRPr>
            </a:pPr>
            <a:r>
              <a:t>Sales silently stop at a store - full day of lost revenue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874520"/>
            <a:ext cx="109728" cy="109728"/>
          </a:xfrm>
          <a:prstGeom prst="rect">
            <a:avLst/>
          </a:prstGeom>
          <a:solidFill>
            <a:srgbClr val="00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828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A1A1A"/>
                </a:solidFill>
                <a:latin typeface="Arial"/>
              </a:defRPr>
            </a:pPr>
            <a:r>
              <a:t>Void / comp fraud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057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666666"/>
                </a:solidFill>
                <a:latin typeface="Arial"/>
              </a:defRPr>
            </a:pPr>
            <a:r>
              <a:t>Refund abuse continues unchecked - losses accrue every shift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514600"/>
            <a:ext cx="109728" cy="109728"/>
          </a:xfrm>
          <a:prstGeom prst="rect">
            <a:avLst/>
          </a:prstGeom>
          <a:solidFill>
            <a:srgbClr val="00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2468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A1A1A"/>
                </a:solidFill>
                <a:latin typeface="Arial"/>
              </a:defRPr>
            </a:pPr>
            <a:r>
              <a:t>Stockout on best-sellers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666666"/>
                </a:solidFill>
                <a:latin typeface="Arial"/>
              </a:defRPr>
            </a:pPr>
            <a:r>
              <a:t>Walked customers, missed sales - direct margin impact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3154680"/>
            <a:ext cx="109728" cy="109728"/>
          </a:xfrm>
          <a:prstGeom prst="rect">
            <a:avLst/>
          </a:prstGeom>
          <a:solidFill>
            <a:srgbClr val="00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3108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A1A1A"/>
                </a:solidFill>
                <a:latin typeface="Arial"/>
              </a:defRPr>
            </a:pPr>
            <a:r>
              <a:t>Demand spike / drop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666666"/>
                </a:solidFill>
                <a:latin typeface="Arial"/>
              </a:defRPr>
            </a:pPr>
            <a:r>
              <a:t>Wrong staffing and prep levels - waste or poor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6035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Source: Current KFC Vietnam operations workflow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Every hour of delay compounds financial losses across four distinct risk categories, and manual review does not scale with chain growth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795528"/>
            <a:ext cx="457200" cy="3810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282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KFC Vietnam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28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Slide 3 of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999999"/>
                </a:solidFill>
                <a:latin typeface="Arial"/>
              </a:defRPr>
            </a:pPr>
            <a:r>
              <a:t>ISSUE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999999"/>
                </a:solidFill>
                <a:latin typeface="Arial"/>
              </a:defRPr>
            </a:pPr>
            <a:r>
              <a:t>WHAT HAPPENS IN THE BLIND 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5048" y="1097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999999"/>
                </a:solidFill>
                <a:latin typeface="Arial"/>
              </a:defRPr>
            </a:pPr>
            <a:r>
              <a:t>COST OF 24-48H DELAY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1417320"/>
            <a:ext cx="109728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508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A1A1A"/>
                </a:solidFill>
                <a:latin typeface="Arial"/>
              </a:defRPr>
            </a:pPr>
            <a:r>
              <a:t>POS / register outage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1508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Sales silently stop at a store; no alert triggers until next day report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5048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04D43"/>
                </a:solidFill>
                <a:latin typeface="Arial"/>
              </a:defRPr>
            </a:pPr>
            <a:r>
              <a:t>Full day of unrecorded or lost revenue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1965960"/>
            <a:ext cx="10972800" cy="63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A1A1A"/>
                </a:solidFill>
                <a:latin typeface="Arial"/>
              </a:defRPr>
            </a:pPr>
            <a:r>
              <a:t>Void / comp fraud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2011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Refund and discount abuse continues across multiple shifts without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011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04D43"/>
                </a:solidFill>
                <a:latin typeface="Arial"/>
              </a:defRPr>
            </a:pPr>
            <a:r>
              <a:t>Losses compound with every shift until caught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" y="2468880"/>
            <a:ext cx="10972800" cy="63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514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A1A1A"/>
                </a:solidFill>
                <a:latin typeface="Arial"/>
              </a:defRPr>
            </a:pPr>
            <a:r>
              <a:t>Stockout on best-sellers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2514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High-margin items unavailable; customers walk or shift to competitors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514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04D43"/>
                </a:solidFill>
                <a:latin typeface="Arial"/>
              </a:defRPr>
            </a:pPr>
            <a:r>
              <a:t>Missed sales + damaged customer satisfaction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2971800"/>
            <a:ext cx="10972800" cy="63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017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A1A1A"/>
                </a:solidFill>
                <a:latin typeface="Arial"/>
              </a:defRPr>
            </a:pPr>
            <a:r>
              <a:t>Demand spike / drop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8648" y="3017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Wrong staffing levels and food prep quantities locked in for the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04D43"/>
                </a:solidFill>
                <a:latin typeface="Arial"/>
              </a:defRPr>
            </a:pPr>
            <a:r>
              <a:t>Labor waste or service failures; both hit margins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" y="3474720"/>
            <a:ext cx="10972800" cy="63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2648" y="4389120"/>
            <a:ext cx="10972800" cy="64008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" y="4389120"/>
            <a:ext cx="50800" cy="64008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1A1A1A"/>
                </a:solidFill>
                <a:latin typeface="Arial"/>
              </a:defRPr>
            </a:pPr>
            <a:r>
              <a:t>Key insight: Manual review does not scale - more stores = more reports = longer lag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480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800" b="1">
                <a:solidFill>
                  <a:srgbClr val="004D43"/>
                </a:solidFill>
                <a:latin typeface="Arial"/>
              </a:defRPr>
            </a:pPr>
            <a:r>
              <a:t>+36%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800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Analyst time spent finding vs. fixing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5303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Source: KFC Vietnam operations workflow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An automated platform now forecasts demand across every store, detects anomalies in minutes, and routes alerts to the right person automatically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795528"/>
            <a:ext cx="457200" cy="3810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282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KFC Vietnam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28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Slide 4 of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9144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Six capabilities working together to eliminate the 24-48 hour blind spot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37160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04D43"/>
                </a:solidFill>
                <a:latin typeface="Arial"/>
              </a:defRPr>
            </a:pPr>
            <a:r>
              <a:t>Forecast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8745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Demand prediction per store x item x daypart, 14 days ahead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37160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04D43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8745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Automated anomaly detection across outages, fraud, stockouts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93608" y="137160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04D43"/>
                </a:solidFill>
                <a:latin typeface="Arial"/>
              </a:defRPr>
            </a:pPr>
            <a: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8745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Multi-judge council evaluates each anomaly for confidence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338328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04D43"/>
                </a:solidFill>
                <a:latin typeface="Arial"/>
              </a:defRPr>
            </a:pPr>
            <a:r>
              <a:t>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8862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Forecast-driven buying plans, prep schedules, push alerts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53128" y="338328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8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04D43"/>
                </a:solidFill>
                <a:latin typeface="Arial"/>
              </a:defRPr>
            </a:pPr>
            <a:r>
              <a:t>Surface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8" y="38862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Dashboard, natural-language querying, BI feeds, summaries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38328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76488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04D43"/>
                </a:solidFill>
                <a:latin typeface="Arial"/>
              </a:defRPr>
            </a:pPr>
            <a:r>
              <a:t>Localized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38862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Built for Vietnam: EN/VI, VND, Tet regime, local holidays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394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Source: KFC Vietnam platform architecture 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Detection time collapses from 24-48 hours of manual review to minutes of automated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795528"/>
            <a:ext cx="457200" cy="3810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282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KFC Vietnam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28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Slide 5 of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188720"/>
            <a:ext cx="914400" cy="10972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087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Manual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118872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3258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t>Day 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5087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999999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79" y="118872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19" y="13258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t>Analyst pulls 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19" y="15087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999999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398" y="118872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38" y="13258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t>Eyeballs each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38" y="15087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999999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17" y="118872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57" y="13258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t>Spots issue 24-48h later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7" y="15087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999999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36" y="118872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76" y="13258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t>Emails and reacts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" y="2560320"/>
            <a:ext cx="914400" cy="109728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8803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D4A84B"/>
                </a:solidFill>
                <a:latin typeface="Arial"/>
              </a:defRPr>
            </a:pPr>
            <a:r>
              <a:t>AFTER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2004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Platform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37360" y="256032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E8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26974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t>Data lands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8803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999999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11879" y="256032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E8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3319" y="26974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t>Pipeline forecasts + scores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19" y="28803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999999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398" y="256032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38" y="26974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t>Council validates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38" y="28803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999999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60917" y="256032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E8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57" y="26974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t>Alert fires minutes later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57" y="28803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999999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35436" y="256032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E8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76" y="26974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t>Right person acts same shift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" y="4023360"/>
            <a:ext cx="10972800" cy="822960"/>
          </a:xfrm>
          <a:prstGeom prst="roundRect">
            <a:avLst>
              <a:gd name="adj" fmla="val 5000"/>
            </a:avLst>
          </a:prstGeom>
          <a:solidFill>
            <a:srgbClr val="00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D4A84B"/>
                </a:solidFill>
                <a:latin typeface="Arial"/>
              </a:defRPr>
            </a:pPr>
            <a:r>
              <a:t>24-48h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888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  Minutes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D4A84B"/>
                </a:solidFill>
                <a:latin typeface="Arial"/>
              </a:defRPr>
            </a:pPr>
            <a:r>
              <a:t>Manual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  Automatic chain-wide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D4A84B"/>
                </a:solidFill>
                <a:latin typeface="Arial"/>
              </a:defRPr>
            </a:pPr>
            <a:r>
              <a:t>"Find"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  "Act"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" y="5120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Source: Platform architecture and workflow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Every pipeline run processes the full chain from raw data to alert in minutes, removing the human from the detection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795528"/>
            <a:ext cx="457200" cy="3810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282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KFC Vietnam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28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Slide 6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1188720"/>
            <a:ext cx="1691640" cy="228600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2801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999999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5544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A1A1A"/>
                </a:solidFill>
                <a:latin typeface="Arial"/>
              </a:defRPr>
            </a:pPr>
            <a: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1417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666666"/>
                </a:solidFill>
                <a:latin typeface="Arial"/>
              </a:defRPr>
            </a:pPr>
            <a:r>
              <a:t>POS, ERP, weather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21031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999999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2888" y="1188720"/>
            <a:ext cx="1691640" cy="2286000"/>
          </a:xfrm>
          <a:prstGeom prst="roundRect">
            <a:avLst>
              <a:gd name="adj" fmla="val 5000"/>
            </a:avLst>
          </a:prstGeom>
          <a:solidFill>
            <a:srgbClr val="E8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2888" y="12801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999999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8" y="15544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A1A1A"/>
                </a:solidFill>
                <a:latin typeface="Arial"/>
              </a:defRPr>
            </a:pPr>
            <a:r>
              <a:t>Forecast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1965960"/>
            <a:ext cx="1417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666666"/>
                </a:solidFill>
                <a:latin typeface="Arial"/>
              </a:defRPr>
            </a:pPr>
            <a:r>
              <a:t>Chronos-2 and seasonal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21031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999999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53128" y="1188720"/>
            <a:ext cx="1691640" cy="2286000"/>
          </a:xfrm>
          <a:prstGeom prst="roundRect">
            <a:avLst>
              <a:gd name="adj" fmla="val 5000"/>
            </a:avLst>
          </a:prstGeom>
          <a:solidFill>
            <a:srgbClr val="FF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12801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999999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15544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A1A1A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1965960"/>
            <a:ext cx="1417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666666"/>
                </a:solidFill>
                <a:latin typeface="Arial"/>
              </a:defRPr>
            </a:pPr>
            <a:r>
              <a:t>Residual and fraud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21031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999999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73368" y="1188720"/>
            <a:ext cx="1691640" cy="2286000"/>
          </a:xfrm>
          <a:prstGeom prst="roundRect">
            <a:avLst>
              <a:gd name="adj" fmla="val 5000"/>
            </a:avLst>
          </a:prstGeom>
          <a:solidFill>
            <a:srgbClr val="F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12801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999999"/>
                </a:solidFill>
                <a:latin typeface="Arial"/>
              </a:defRPr>
            </a:pPr>
            <a: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15544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A1A1A"/>
                </a:solidFill>
                <a:latin typeface="Arial"/>
              </a:defRPr>
            </a:pPr>
            <a:r>
              <a:t>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1965960"/>
            <a:ext cx="1417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666666"/>
                </a:solidFill>
                <a:latin typeface="Arial"/>
              </a:defRPr>
            </a:pPr>
            <a:r>
              <a:t>Council of judges votes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21031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999999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1188720"/>
            <a:ext cx="1691640" cy="2286000"/>
          </a:xfrm>
          <a:prstGeom prst="roundRect">
            <a:avLst>
              <a:gd name="adj" fmla="val 5000"/>
            </a:avLst>
          </a:prstGeom>
          <a:solidFill>
            <a:srgbClr val="E8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12801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999999"/>
                </a:solidFill>
                <a:latin typeface="Arial"/>
              </a:defRPr>
            </a:pPr>
            <a:r>
              <a:t>STEP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15544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A1A1A"/>
                </a:solidFill>
                <a:latin typeface="Arial"/>
              </a:defRPr>
            </a:pPr>
            <a:r>
              <a:t>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1965960"/>
            <a:ext cx="1417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666666"/>
                </a:solidFill>
                <a:latin typeface="Arial"/>
              </a:defRPr>
            </a:pPr>
            <a:r>
              <a:t>Buying and prep plans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85248" y="21031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999999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13848" y="1188720"/>
            <a:ext cx="1691640" cy="2286000"/>
          </a:xfrm>
          <a:prstGeom prst="roundRect">
            <a:avLst>
              <a:gd name="adj" fmla="val 5000"/>
            </a:avLst>
          </a:prstGeom>
          <a:solidFill>
            <a:srgbClr val="00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13848" y="12801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999999"/>
                </a:solidFill>
                <a:latin typeface="Arial"/>
              </a:defRPr>
            </a:pPr>
            <a:r>
              <a:t>STEP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13848" y="15544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Notify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51008" y="1965960"/>
            <a:ext cx="1417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666666"/>
                </a:solidFill>
                <a:latin typeface="Arial"/>
              </a:defRPr>
            </a:pPr>
            <a:r>
              <a:t>Email, Teams, Slack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3794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Fully automated | Reproducible rebuilds from source | Flexible cadence nightly or on-demand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" y="4572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Source: Platform pipeline architecture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The forecast engine delivers reliable 14-day predictions with honest uncertainty ranges, validated at 22% MAPE and 89% band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795528"/>
            <a:ext cx="457200" cy="3810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282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KFC Vietnam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28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Slide 7 of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0058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04D43"/>
                </a:solidFill>
                <a:latin typeface="Arial"/>
              </a:defRPr>
            </a:pPr>
            <a:r>
              <a:t>Two-model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2801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Chronos-2 foundation model (GPU) for highest accuracy; zero-dependency seasonal fallback with identical interface.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0574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04D43"/>
                </a:solidFill>
                <a:latin typeface="Arial"/>
              </a:defRPr>
            </a:pPr>
            <a:r>
              <a:t>Forecast as a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3317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Every prediction is a p05-p50-p95 band. The width tells you confidence. Band directly powers anomaly detection.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108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04D43"/>
                </a:solidFill>
                <a:latin typeface="Arial"/>
              </a:defRPr>
            </a:pPr>
            <a:r>
              <a:t>Restaurant-aware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3832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Weather, day-of-week, promotions, Tet and Vietnam holidays, new-store maturation ramp.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4160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04D43"/>
                </a:solidFill>
                <a:latin typeface="Arial"/>
              </a:defRPr>
            </a:pPr>
            <a:r>
              <a:t>Trusted data foundation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44348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Bronze to Silver to Gold medallion warehouse with full lineage tracing to source exports.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005840"/>
            <a:ext cx="4114800" cy="411480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1188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666666"/>
                </a:solidFill>
                <a:latin typeface="Arial"/>
              </a:defRPr>
            </a:pPr>
            <a:r>
              <a:t>MAPE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004D43"/>
                </a:solidFill>
                <a:latin typeface="Arial"/>
              </a:defRPr>
            </a:pPr>
            <a:r>
              <a:t>22%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666666"/>
                </a:solidFill>
                <a:latin typeface="Arial"/>
              </a:defRPr>
            </a:pPr>
            <a:r>
              <a:t>Band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103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004D43"/>
                </a:solidFill>
                <a:latin typeface="Arial"/>
              </a:defRPr>
            </a:pPr>
            <a:r>
              <a:t>89%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2743200"/>
            <a:ext cx="3383280" cy="508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2743200"/>
            <a:ext cx="3017520" cy="5080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666666"/>
                </a:solidFill>
                <a:latin typeface="Arial"/>
              </a:defRPr>
            </a:pPr>
            <a:r>
              <a:t>Skill vs. naive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004D43"/>
                </a:solidFill>
                <a:latin typeface="Arial"/>
              </a:defRPr>
            </a:pPr>
            <a:r>
              <a:t>+36%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666666"/>
                </a:solidFill>
                <a:latin typeface="Arial"/>
              </a:defRPr>
            </a:pPr>
            <a:r>
              <a:t>Horizon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3931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004D43"/>
                </a:solidFill>
                <a:latin typeface="Arial"/>
              </a:defRPr>
            </a:pPr>
            <a:r>
              <a:t>14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303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666666"/>
                </a:solidFill>
                <a:latin typeface="Arial"/>
              </a:defRPr>
            </a:pPr>
            <a:r>
              <a:t>Models: Chronos-2 (GPU) + Seasonal ML | Validated on: KFC Vietnam hold-out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669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Source: Backtest results on KFC Vietnam historical sales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Anomaly detection achieves precision 1.0 across all types through a multi-judge validation council that eliminates false alarms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795528"/>
            <a:ext cx="457200" cy="3810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282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KFC Vietnam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28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Slide 8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1188720"/>
            <a:ext cx="2286000" cy="1280160"/>
          </a:xfrm>
          <a:prstGeom prst="roundRect">
            <a:avLst>
              <a:gd name="adj" fmla="val 5000"/>
            </a:avLst>
          </a:prstGeom>
          <a:solidFill>
            <a:srgbClr val="E8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25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A1A1A"/>
                </a:solidFill>
                <a:latin typeface="Arial"/>
              </a:defRPr>
            </a:pPr>
            <a:r>
              <a:t>Compare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50" b="0">
                <a:solidFill>
                  <a:srgbClr val="666666"/>
                </a:solidFill>
                <a:latin typeface="Arial"/>
              </a:defRPr>
            </a:pPr>
            <a:r>
              <a:t>Actual vs forecast band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1600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999999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72968" y="1188720"/>
            <a:ext cx="2286000" cy="1280160"/>
          </a:xfrm>
          <a:prstGeom prst="roundRect">
            <a:avLst>
              <a:gd name="adj" fmla="val 5000"/>
            </a:avLst>
          </a:prstGeom>
          <a:solidFill>
            <a:srgbClr val="FF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1325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A1A1A"/>
                </a:solidFill>
                <a:latin typeface="Arial"/>
              </a:defRPr>
            </a:pPr>
            <a:r>
              <a:t>Classify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50" b="0">
                <a:solidFill>
                  <a:srgbClr val="666666"/>
                </a:solidFill>
                <a:latin typeface="Arial"/>
              </a:defRPr>
            </a:pPr>
            <a:r>
              <a:t>Spike/Drop/Outage/Fraud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8968" y="1600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999999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188720"/>
            <a:ext cx="2286000" cy="1280160"/>
          </a:xfrm>
          <a:prstGeom prst="roundRect">
            <a:avLst>
              <a:gd name="adj" fmla="val 5000"/>
            </a:avLst>
          </a:prstGeom>
          <a:solidFill>
            <a:srgbClr val="F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33288" y="1325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A1A1A"/>
                </a:solidFill>
                <a:latin typeface="Arial"/>
              </a:defRPr>
            </a:pPr>
            <a:r>
              <a:t>Council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50" b="0">
                <a:solidFill>
                  <a:srgbClr val="666666"/>
                </a:solidFill>
                <a:latin typeface="Arial"/>
              </a:defRPr>
            </a:pPr>
            <a:r>
              <a:t>Multiple judges vote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1600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999999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1188720"/>
            <a:ext cx="2286000" cy="1280160"/>
          </a:xfrm>
          <a:prstGeom prst="roundRect">
            <a:avLst>
              <a:gd name="adj" fmla="val 5000"/>
            </a:avLst>
          </a:prstGeom>
          <a:solidFill>
            <a:srgbClr val="00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1325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Alert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50" b="0">
                <a:solidFill>
                  <a:srgbClr val="666666"/>
                </a:solidFill>
                <a:latin typeface="Arial"/>
              </a:defRPr>
            </a:pPr>
            <a:r>
              <a:t>Ranked anomalies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2743200"/>
            <a:ext cx="6858000" cy="59436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" y="2743200"/>
            <a:ext cx="50800" cy="59436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2834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How it works: Each anomaly evaluated by multiple independent judges. Alert fires only when a quorum agrees - eliminating alert fatigue.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118872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00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1">
                <a:solidFill>
                  <a:srgbClr val="D4A84B"/>
                </a:solidFill>
                <a:latin typeface="Arial"/>
              </a:defRPr>
            </a:pPr>
            <a:r>
              <a:t>1.0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t>Precision across all types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2148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750" b="0">
                <a:solidFill>
                  <a:srgbClr val="B4C8C3"/>
                </a:solidFill>
                <a:latin typeface="Arial"/>
              </a:defRPr>
            </a:pPr>
            <a:r>
              <a:t>When it alerts, it is right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283464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79" y="29718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666666"/>
                </a:solidFill>
                <a:latin typeface="Arial"/>
              </a:defRPr>
            </a:pPr>
            <a:r>
              <a:t>ANOMALY TYPES DETECTED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3291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333333"/>
                </a:solidFill>
                <a:latin typeface="Arial"/>
              </a:defRPr>
            </a:pPr>
            <a:r>
              <a:t>Outage - Sales stopped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6393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333333"/>
                </a:solidFill>
                <a:latin typeface="Arial"/>
              </a:defRPr>
            </a:pPr>
            <a:r>
              <a:t>Fraud - Void/comp abuse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398678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333333"/>
                </a:solidFill>
                <a:latin typeface="Arial"/>
              </a:defRPr>
            </a:pPr>
            <a:r>
              <a:t>Stockout - Best-sellers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433425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333333"/>
                </a:solidFill>
                <a:latin typeface="Arial"/>
              </a:defRPr>
            </a:pPr>
            <a:r>
              <a:t>Demand spike/drop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6817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333333"/>
                </a:solidFill>
                <a:latin typeface="Arial"/>
              </a:defRPr>
            </a:pPr>
            <a:r>
              <a:t>Inventory mismatch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Source: Platform backtest results on KFC Vietnam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The platform closes the loop from detection to action, routing alerts and plans so the right person responds same shift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795528"/>
            <a:ext cx="457200" cy="3810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282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KFC Vietnam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28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Slide 9 of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005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Detecting faster only matters if the right person acts. Four integrated action pathways.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463040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1463040"/>
            <a:ext cx="50800" cy="137160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600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A1A1A"/>
                </a:solidFill>
                <a:latin typeface="Arial"/>
              </a:defRPr>
            </a:pPr>
            <a:r>
              <a:t>Automated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9202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Rule-based routing by severity to email, Teams, Slack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368" y="1463040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73368" y="1463040"/>
            <a:ext cx="50800" cy="137160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600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A1A1A"/>
                </a:solidFill>
                <a:latin typeface="Arial"/>
              </a:defRPr>
            </a:pPr>
            <a:r>
              <a:t>Buying plans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19202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Par levels, reorder points, quantities in VND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3108960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" y="3108960"/>
            <a:ext cx="50800" cy="137160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A1A1A"/>
                </a:solidFill>
                <a:latin typeface="Arial"/>
              </a:defRPr>
            </a:pPr>
            <a:r>
              <a:t>Prep plans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566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Thaw and cook lead-time board for forecast demand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73368" y="3108960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73368" y="3108960"/>
            <a:ext cx="50800" cy="137160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A1A1A"/>
                </a:solidFill>
                <a:latin typeface="Arial"/>
              </a:defRPr>
            </a:pPr>
            <a:r>
              <a:t>Agent-ready (MCP)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3566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AI agents can query and approve with audit trail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5029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Source: Platform action-routing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The single dashboard gives every role a tailored view with no SQL required and full drill-down to any store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795528"/>
            <a:ext cx="457200" cy="3810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282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KFC Vietnam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28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Slide 10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1188720"/>
            <a:ext cx="3566160" cy="169164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280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04D4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A1A1A"/>
                </a:solidFill>
                <a:latin typeface="Arial"/>
              </a:defRPr>
            </a:pPr>
            <a:r>
              <a:t>Chain-wide snapshot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65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90-day trend and 14-day forecast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188720"/>
            <a:ext cx="3566160" cy="169164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280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04D4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A1A1A"/>
                </a:solidFill>
                <a:latin typeface="Arial"/>
              </a:defRPr>
            </a:pPr>
            <a:r>
              <a:t>Forecast Explorer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1965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Backtest-vs-actual overlay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188720"/>
            <a:ext cx="3566160" cy="169164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280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04D4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A1A1A"/>
                </a:solidFill>
                <a:latin typeface="Arial"/>
              </a:defRPr>
            </a:pPr>
            <a:r>
              <a:t>Anomaly triage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1965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Sort by type and confidence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3200400"/>
            <a:ext cx="3566160" cy="169164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2918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04D43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A1A1A"/>
                </a:solidFill>
                <a:latin typeface="Arial"/>
              </a:defRPr>
            </a:pPr>
            <a:r>
              <a:t>Natural-language 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977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Plain English gets a table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53128" y="3200400"/>
            <a:ext cx="3566160" cy="169164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32918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04D43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A1A1A"/>
                </a:solidFill>
                <a:latin typeface="Arial"/>
              </a:defRPr>
            </a:pPr>
            <a:r>
              <a:t>AI summaries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3977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12 report templates plus auto summary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3200400"/>
            <a:ext cx="3566160" cy="169164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32918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04D43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A1A1A"/>
                </a:solidFill>
                <a:latin typeface="Arial"/>
              </a:defRPr>
            </a:pPr>
            <a:r>
              <a:t>Full localization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3977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EN/VI toggle, VND currency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" y="4754880"/>
            <a:ext cx="10972800" cy="640080"/>
          </a:xfrm>
          <a:prstGeom prst="roundRect">
            <a:avLst>
              <a:gd name="adj" fmla="val 5000"/>
            </a:avLst>
          </a:prstGeom>
          <a:solidFill>
            <a:srgbClr val="00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892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4A84B"/>
                </a:solidFill>
                <a:latin typeface="Arial"/>
              </a:defRPr>
            </a:pPr>
            <a:r>
              <a:t>Available now at 192.168.50.85:8900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12064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FFFFFF"/>
                </a:solidFill>
                <a:latin typeface="Arial"/>
              </a:defRPr>
            </a:pPr>
            <a:r>
              <a:t>Analysts | Managers | Finance | Operations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5669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Source: Platform UI and feature documentation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The platform runs on existing on-prem hardware with no new cloud spend and full RBAC data governance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795528"/>
            <a:ext cx="457200" cy="3810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282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KFC Vietnam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28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Slide 11 of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1051560"/>
            <a:ext cx="6858000" cy="118872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" y="1051560"/>
            <a:ext cx="50800" cy="118872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430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04D43"/>
                </a:solidFill>
                <a:latin typeface="Arial"/>
              </a:defRPr>
            </a:pPr>
            <a:r>
              <a:t>On-premise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Docker Compose on idle GPU (A2) at 192.168.50.85 - no contention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2423160"/>
            <a:ext cx="6858000" cy="118872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" y="2423160"/>
            <a:ext cx="50800" cy="118872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146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04D43"/>
                </a:solidFill>
                <a:latin typeface="Arial"/>
              </a:defRPr>
            </a:pPr>
            <a:r>
              <a:t>One-command 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889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Same code on laptop (SQLite) or server (Postgres+GPU)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3794760"/>
            <a:ext cx="6858000" cy="118872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" y="3794760"/>
            <a:ext cx="50800" cy="118872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04D43"/>
                </a:solidFill>
                <a:latin typeface="Arial"/>
              </a:defRPr>
            </a:pPr>
            <a:r>
              <a:t>Enterprise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60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PBKDF2 hashing, short sessions, pending signup approval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1051560"/>
            <a:ext cx="3840480" cy="301752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1143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666666"/>
                </a:solidFill>
                <a:latin typeface="Arial"/>
              </a:defRPr>
            </a:pPr>
            <a:r>
              <a:t>ROLE-BASED ACCESS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04D43"/>
                </a:solidFill>
                <a:latin typeface="Arial"/>
              </a:defRPr>
            </a:pPr>
            <a:r>
              <a:t>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554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333333"/>
                </a:solidFill>
                <a:latin typeface="Arial"/>
              </a:defRPr>
            </a:pPr>
            <a:r>
              <a:t>Full system access, user mgmt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1938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04D43"/>
                </a:solidFill>
                <a:latin typeface="Arial"/>
              </a:defRPr>
            </a:pPr>
            <a:r>
              <a:t>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19385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333333"/>
                </a:solidFill>
                <a:latin typeface="Arial"/>
              </a:defRPr>
            </a:pPr>
            <a:r>
              <a:t>View all + approve reorders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3225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04D43"/>
                </a:solidFill>
                <a:latin typeface="Arial"/>
              </a:defRPr>
            </a:pPr>
            <a:r>
              <a:t>Analyst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3225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333333"/>
                </a:solidFill>
                <a:latin typeface="Arial"/>
              </a:defRPr>
            </a:pPr>
            <a:r>
              <a:t>View data, create 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27066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04D43"/>
                </a:solidFill>
                <a:latin typeface="Arial"/>
              </a:defRPr>
            </a:pPr>
            <a:r>
              <a:t>Viewer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7066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333333"/>
                </a:solidFill>
                <a:latin typeface="Arial"/>
              </a:defRPr>
            </a:pPr>
            <a:r>
              <a:t>Read-only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291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666666"/>
                </a:solidFill>
                <a:latin typeface="Arial"/>
              </a:defRPr>
            </a:pPr>
            <a:r>
              <a:t>Audit trail: Every action logged with timestamp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" y="4572000"/>
            <a:ext cx="10972800" cy="54864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663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t>Stack: App + Postgres + GPU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663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t>Deploy: Docker Compose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663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t>Host: 192.168.50.85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5394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Source: Platform infrastructure and security docs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The platform delivers measurable business value - faster loss prevention, less waste, and scaled analyst productivity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795528"/>
            <a:ext cx="457200" cy="3810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282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KFC Vietnam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28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Slide 12 of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999999"/>
                </a:solidFill>
                <a:latin typeface="Arial"/>
              </a:defRPr>
            </a:pPr>
            <a:r>
              <a:t>VALUE LEVER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10972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999999"/>
                </a:solidFill>
                <a:latin typeface="Arial"/>
              </a:defRPr>
            </a:pPr>
            <a:r>
              <a:t>HOW THE PLATFORM DELIVERS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8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999999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508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A1A1A"/>
                </a:solidFill>
                <a:latin typeface="Arial"/>
              </a:defRPr>
            </a:pPr>
            <a:r>
              <a:t>Faster loss prevention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15087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Outages caught in minutes - recovery same shift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42248" y="1508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04D43"/>
                </a:solidFill>
                <a:latin typeface="Arial"/>
              </a:defRPr>
            </a:pPr>
            <a:r>
              <a:t>24-48h to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A1A1A"/>
                </a:solidFill>
                <a:latin typeface="Arial"/>
              </a:defRPr>
            </a:pPr>
            <a:r>
              <a:t>Less shrink/fraud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20116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Void-comp flagged by validation council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42248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04D43"/>
                </a:solidFill>
                <a:latin typeface="Arial"/>
              </a:defRPr>
            </a:pPr>
            <a:r>
              <a:t>Cut losses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514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A1A1A"/>
                </a:solidFill>
                <a:latin typeface="Arial"/>
              </a:defRPr>
            </a:pPr>
            <a:r>
              <a:t>Fewer stockouts/waste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25146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Forecast-driven buying reduces waste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42248" y="2514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04D43"/>
                </a:solidFill>
                <a:latin typeface="Arial"/>
              </a:defRPr>
            </a:pPr>
            <a:r>
              <a:t>Less waste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017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A1A1A"/>
                </a:solidFill>
                <a:latin typeface="Arial"/>
              </a:defRPr>
            </a:pPr>
            <a:r>
              <a:t>Analyst productivity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30175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Automated monitoring replaces manual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2248" y="3017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04D43"/>
                </a:solidFill>
                <a:latin typeface="Arial"/>
              </a:defRPr>
            </a:pPr>
            <a:r>
              <a:t>Redeploy hours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3520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A1A1A"/>
                </a:solidFill>
                <a:latin typeface="Arial"/>
              </a:defRPr>
            </a:pPr>
            <a:r>
              <a:t>Scales with chain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8648" y="35204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New stores watched automatically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2248" y="3520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04D43"/>
                </a:solidFill>
                <a:latin typeface="Arial"/>
              </a:defRPr>
            </a:pPr>
            <a:r>
              <a:t>Zero added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023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A1A1A"/>
                </a:solidFill>
                <a:latin typeface="Arial"/>
              </a:defRPr>
            </a:pPr>
            <a:r>
              <a:t>Better decisions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8648" y="40233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BI feeds enable evidence-based calls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42248" y="4023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04D43"/>
                </a:solidFill>
                <a:latin typeface="Arial"/>
              </a:defRPr>
            </a:pPr>
            <a:r>
              <a:t>Faster decisions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4572000"/>
            <a:ext cx="10515600" cy="548640"/>
          </a:xfrm>
          <a:prstGeom prst="roundRect">
            <a:avLst>
              <a:gd name="adj" fmla="val 5000"/>
            </a:avLst>
          </a:prstGeom>
          <a:solidFill>
            <a:srgbClr val="00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D4A84B"/>
                </a:solidFill>
                <a:latin typeface="Arial"/>
              </a:defRPr>
            </a:pPr>
            <a:r>
              <a:t>24-48h to minutes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709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FFFFFF"/>
                </a:solidFill>
                <a:latin typeface="Arial"/>
              </a:defRPr>
            </a:pPr>
            <a:r>
              <a:t>Same-shift response, chain scale, no added headcount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5394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Source: Platform value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Built for MVP today and designed to grow - the architecture scales for real-time, more channels, wider rollout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795528"/>
            <a:ext cx="457200" cy="3810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282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KFC Vietnam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28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Slide 13 of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005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Enhancements build on the same foundation with minimal risk.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463040"/>
            <a:ext cx="914400" cy="100584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783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NOW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1463040"/>
            <a:ext cx="10515600" cy="1005840"/>
          </a:xfrm>
          <a:prstGeom prst="roundRect">
            <a:avLst>
              <a:gd name="adj" fmla="val 5000"/>
            </a:avLst>
          </a:prstGeom>
          <a:solidFill>
            <a:srgbClr val="E8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6002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  Nightly pipeline 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6002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  Full dashboard deployed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6002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  BI feeds live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2697480"/>
            <a:ext cx="914400" cy="1005840"/>
          </a:xfrm>
          <a:prstGeom prst="rect">
            <a:avLst/>
          </a:prstGeom>
          <a:solidFill>
            <a:srgbClr val="00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017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2697480"/>
            <a:ext cx="10515600" cy="1005840"/>
          </a:xfrm>
          <a:prstGeom prst="roundRect">
            <a:avLst>
              <a:gd name="adj" fmla="val 5000"/>
            </a:avLst>
          </a:prstGeom>
          <a:solidFill>
            <a:srgbClr val="E8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28346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  Near-streaming ingestion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8346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  Add Zalo channel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8346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  PowerBI semantic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" y="3931920"/>
            <a:ext cx="914400" cy="100584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4251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LATER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45920" y="3931920"/>
            <a:ext cx="10515600" cy="100584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0" y="40690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  More stores/regions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40690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  AI incident summaries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40690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333333"/>
                </a:solidFill>
                <a:latin typeface="Arial"/>
              </a:defRPr>
            </a:pPr>
            <a:r>
              <a:t>  Multi-chain expansion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" y="4846320"/>
            <a:ext cx="10972800" cy="59436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" y="4846320"/>
            <a:ext cx="50800" cy="594360"/>
          </a:xfrm>
          <a:prstGeom prst="rect">
            <a:avLst/>
          </a:prstGeom>
          <a:solidFill>
            <a:srgbClr val="00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9194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A1A1A"/>
                </a:solidFill>
                <a:latin typeface="Arial"/>
              </a:defRPr>
            </a:pPr>
            <a:r>
              <a:t>Invitation: Which next item matters most to your team?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9194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t>All enhancements build on proven architecture.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5669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999999"/>
                </a:solidFill>
                <a:latin typeface="Arial"/>
              </a:defRPr>
            </a:pPr>
            <a:r>
              <a:t>Source: Platform product roadmap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D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8952" y="731520"/>
            <a:ext cx="612648" cy="508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From 24-48 hours to minutes: an automated forecast + anomaly platform on our own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2011680"/>
            <a:ext cx="5303520" cy="1188720"/>
          </a:xfrm>
          <a:prstGeom prst="roundRect">
            <a:avLst>
              <a:gd name="adj" fmla="val 5000"/>
            </a:avLst>
          </a:prstGeom>
          <a:solidFill>
            <a:srgbClr val="0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103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D4A84B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4688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Problem eliminated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788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B4C8C3"/>
                </a:solidFill>
                <a:latin typeface="Arial"/>
              </a:defRPr>
            </a:pPr>
            <a:r>
              <a:t>Anomalies found 24-48h late. Now detected in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28232" y="2011680"/>
            <a:ext cx="5303520" cy="1188720"/>
          </a:xfrm>
          <a:prstGeom prst="roundRect">
            <a:avLst>
              <a:gd name="adj" fmla="val 5000"/>
            </a:avLst>
          </a:prstGeom>
          <a:solidFill>
            <a:srgbClr val="0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2103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D4A84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4688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Proven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788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B4C8C3"/>
                </a:solidFill>
                <a:latin typeface="Arial"/>
              </a:defRPr>
            </a:pPr>
            <a:r>
              <a:t>22% MAPE, 89% coverage, precision 1.0.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3383280"/>
            <a:ext cx="5303520" cy="1188720"/>
          </a:xfrm>
          <a:prstGeom prst="roundRect">
            <a:avLst>
              <a:gd name="adj" fmla="val 5000"/>
            </a:avLst>
          </a:prstGeom>
          <a:solidFill>
            <a:srgbClr val="0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474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D4A84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No new infra spend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160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B4C8C3"/>
                </a:solidFill>
                <a:latin typeface="Arial"/>
              </a:defRPr>
            </a:pPr>
            <a:r>
              <a:t>On-prem GPU, one-command deploy.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28232" y="3383280"/>
            <a:ext cx="5303520" cy="1188720"/>
          </a:xfrm>
          <a:prstGeom prst="roundRect">
            <a:avLst>
              <a:gd name="adj" fmla="val 5000"/>
            </a:avLst>
          </a:prstGeom>
          <a:solidFill>
            <a:srgbClr val="0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3474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D4A84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Governed and auditable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4160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B4C8C3"/>
                </a:solidFill>
                <a:latin typeface="Arial"/>
              </a:defRPr>
            </a:pPr>
            <a:r>
              <a:t>RBAC with full audit trail.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" y="5029200"/>
            <a:ext cx="3474720" cy="594360"/>
          </a:xfrm>
          <a:prstGeom prst="roundRect">
            <a:avLst>
              <a:gd name="adj" fmla="val 5000"/>
            </a:avLst>
          </a:prstGeom>
          <a:solidFill>
            <a:srgbClr val="0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" y="5029200"/>
            <a:ext cx="38100" cy="59436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2" y="50932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FFFFFF"/>
                </a:solidFill>
                <a:latin typeface="Arial"/>
              </a:defRPr>
            </a:pPr>
            <a:r>
              <a:t>1. Confirm target stores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07991" y="5029200"/>
            <a:ext cx="3474720" cy="594360"/>
          </a:xfrm>
          <a:prstGeom prst="roundRect">
            <a:avLst>
              <a:gd name="adj" fmla="val 5000"/>
            </a:avLst>
          </a:prstGeom>
          <a:solidFill>
            <a:srgbClr val="0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07991" y="5029200"/>
            <a:ext cx="38100" cy="59436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3751" y="50932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FFFFFF"/>
                </a:solidFill>
                <a:latin typeface="Arial"/>
              </a:defRPr>
            </a:pPr>
            <a:r>
              <a:t>2. Validate figures with Finance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57030" y="5029200"/>
            <a:ext cx="3474720" cy="594360"/>
          </a:xfrm>
          <a:prstGeom prst="roundRect">
            <a:avLst>
              <a:gd name="adj" fmla="val 5000"/>
            </a:avLst>
          </a:prstGeom>
          <a:solidFill>
            <a:srgbClr val="0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57030" y="5029200"/>
            <a:ext cx="38100" cy="59436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22790" y="50932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FFFFFF"/>
                </a:solidFill>
                <a:latin typeface="Arial"/>
              </a:defRPr>
            </a:pPr>
            <a:r>
              <a:t>3. Prioritize roadmap item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6035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69696"/>
                </a:solidFill>
                <a:latin typeface="Arial"/>
              </a:defRPr>
            </a:pPr>
            <a:r>
              <a:t>KFC Vietnam | Sales Anomaly Detection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6035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969696"/>
                </a:solidFill>
                <a:latin typeface="Arial"/>
              </a:defRPr>
            </a:pPr>
            <a:r>
              <a:t>Contact: [Name] | 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